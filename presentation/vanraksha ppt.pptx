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are not looking at a dashboard. We are looking at a national-scale ecological intelligence infrastructure. VanRakshak-X is a real-time AI system designed to turn the forest into a self-reporting asset for sovereign security and environmental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year, we lose a forest the size of South Korea. Illegal logging isn't just about timber; it's a multi-billion dollar criminal industry that thrives on our inability to perceive what happens in the sub-canopy. This is the 'Silent Crisis'—a collapse occurring in total darkness.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forests fall, it’s not just trees that are lost. Water systems destabilize, wildlife corridors vanish, and the indigenous communities who guard these lands lose their protection. Environmental collapse doesn’t start with a scream; it begins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methods are failing. Satellites are too slow—they tell you what happened yesterday. Manual patrolling is a 19th-century solution. We are reactive, fragmented, and always one step behind the intruder.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of Edge AI, long-range mesh networks, and solar harvesting allows us to build a living forest intelligence system. We are no longer limited by the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VanRakshak-X is the forest's nervous system. It is a distributed network of 'Sentinel' nodes that don't just alert—they govern. They understand the physics of the forest and provide real-time threat awareness at a 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is seamless. Our nodes sense, identify, triangulate, and escalate. Within 2.1 seconds, a command protocol is initiated, and rangers are dispatched with surgical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compare this to traditional monitoring, the difference is stark. We move from hours of latency to 2.5 seconds. We move from 'somewhere in the sector' to 'within 4.5 meters'. This is not an upgrade; it is a paradigm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architected this as a vertical intelligence stack. We move from the physical terrain through a resilient LoRa mesh, up to our Bayesian cloud OS, and finally back down to the tactical field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hardware is the frontline. We use a fusion of bioacoustics and seismic sensing to detect both the sound of a chainsaw and the vibration of an axe strike. These nodes are solar-autonomous and IP68-rated for extreme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send raw audio to the cloud. We process it at the edge. We even monitor 'Ecological Silence'—detecting when the birds stop singing, which is often the first indicator of an intruder.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is not a binary alarm. It fuses acoustic confidence with seismic data, environmental context, and historical risk to generate a single, authoritative Threat Score. The system thinks probabilistically, not reactively.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seconds of detection, our mesh network performs TDOA triangulation. We know exactly where the threat is within 4.5 meters, allowing rangers to move with surgical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'Forest Integrity Score' represents the measurable health of the biotope. It is used for biodiversity audits, conservation scoring, and carbon verification, providing a baseline for sovereign environmental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Command Center. It resembles an air-defense system for forests. It provides a live, 24/7 view of the ecosystem's state, allowing for centralized command of decentralized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automated and relentless. From detection to interdiction, the system handles the intelligence so the rangers can handle the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VanRakshak-X does not replace the ranger; it augments them. AI handles the perception; humans handle the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MVP is complete and validated in the field. While we are already detecting threats, we are currently calibrating for diverse rainforest types and extending our field validation to ensure absolute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built for resilience. We prioritize offline-first edge intelligence and low-power autonomous operation. This is a distributed architecture designed to survive in the most challenging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is harsh. Our system is harder. We use IP68 enclosures and self-healing mesh networks to ensure the intelligence flow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India, this is a matter of national security. From the Western Ghats to the Sundarbans, we need to monitor our most remote frontiers. VanRakshak-X secures India's natural capital against illegal incursions and wildfires.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measurable. We reduce latency by 80%. Every minute gained in detection can save hectares of irreversible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VanRakshak-X turns conservation into an asset. We enable verifiable carbon credits and optimize patrol budgets, making environmental governance economically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is built in. We expand modularly from the district to the national level, creating a unified intelligence layer for the entire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takes us from sensing to interdiction. Automated drones and satellite fusion will create the ultimate layer of environmental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Forests are infrastructure. As critical as roads or power grids. We cannot protect what we cannot perceive. VanRakshak-X provides that perception.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future of the Earth's governance. VanRakshak-X: Predictive. Proactive. Powerful. Because the lungs of the nation deserve the intelligence of the state.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VEREIGN_MASTER">
    <p:bg>
      <p:bgPr>
        <a:solidFill>
          <a:srgbClr val="05070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10B981"/>
          </a:solidFill>
          <a:ln/>
        </p:spPr>
      </p:sp>
      <p:sp>
        <p:nvSpPr>
          <p:cNvPr id="3" name="Text 1"/>
          <p:cNvSpPr/>
          <p:nvPr/>
        </p:nvSpPr>
        <p:spPr>
          <a:xfrm>
            <a:off x="457200" y="4846320"/>
            <a:ext cx="4572000" cy="274320"/>
          </a:xfrm>
          <a:prstGeom prst="rect">
            <a:avLst/>
          </a:prstGeom>
          <a:noFill/>
          <a:ln/>
        </p:spPr>
        <p:txBody>
          <a:bodyPr wrap="square" rtlCol="0" anchor="ctr"/>
          <a:lstStyle/>
          <a:p>
            <a:pPr indent="0" marL="0">
              <a:buNone/>
            </a:pPr>
            <a:r>
              <a:rPr lang="en-US" sz="1000" dirty="0">
                <a:solidFill>
                  <a:srgbClr val="10B981"/>
                </a:solidFill>
                <a:latin typeface="Courier New" pitchFamily="34" charset="0"/>
                <a:ea typeface="Courier New" pitchFamily="34" charset="-122"/>
                <a:cs typeface="Courier New" pitchFamily="34" charset="-120"/>
              </a:rPr>
              <a:t>VANRAKSHAK-X | SOVEREIGN INTELLIGENCE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VanRakshak-X</a:t>
            </a:r>
            <a:endParaRPr lang="en-US" sz="3600" dirty="0"/>
          </a:p>
        </p:txBody>
      </p:sp>
      <p:sp>
        <p:nvSpPr>
          <p:cNvPr id="3" name="Text 1"/>
          <p:cNvSpPr/>
          <p:nvPr/>
        </p:nvSpPr>
        <p:spPr>
          <a:xfrm>
            <a:off x="457200" y="1645920"/>
            <a:ext cx="8229600" cy="457200"/>
          </a:xfrm>
          <a:prstGeom prst="rect">
            <a:avLst/>
          </a:prstGeom>
          <a:noFill/>
          <a:ln/>
        </p:spPr>
        <p:txBody>
          <a:bodyPr wrap="square" rtlCol="0" anchor="ctr"/>
          <a:lstStyle/>
          <a:p>
            <a:pPr algn="ctr" indent="0" marL="0">
              <a:buNone/>
            </a:pPr>
            <a:r>
              <a:rPr lang="en-US" sz="2000" dirty="0">
                <a:solidFill>
                  <a:srgbClr val="888888"/>
                </a:solidFill>
              </a:rPr>
              <a:t>A real-time AI system for detecting and preventing ecological threats.</a:t>
            </a:r>
            <a:endParaRPr lang="en-US" sz="2000" dirty="0"/>
          </a:p>
        </p:txBody>
      </p:sp>
      <p:sp>
        <p:nvSpPr>
          <p:cNvPr id="4" name="Text 2"/>
          <p:cNvSpPr/>
          <p:nvPr/>
        </p:nvSpPr>
        <p:spPr>
          <a:xfrm>
            <a:off x="1828800" y="2560320"/>
            <a:ext cx="5486400" cy="365760"/>
          </a:xfrm>
          <a:prstGeom prst="rect">
            <a:avLst/>
          </a:prstGeom>
          <a:noFill/>
          <a:ln/>
        </p:spPr>
        <p:txBody>
          <a:bodyPr wrap="square" rtlCol="0" anchor="ctr"/>
          <a:lstStyle/>
          <a:p>
            <a:pPr algn="ctr" indent="0" marL="0">
              <a:buNone/>
            </a:pPr>
            <a:r>
              <a:rPr lang="en-US" sz="1400" dirty="0">
                <a:solidFill>
                  <a:srgbClr val="10B981"/>
                </a:solidFill>
              </a:rPr>
              <a:t>NATIONAL-SCALE ECOLOGICAL INTELLIGENCE INFRASTRUCTURE</a:t>
            </a:r>
            <a:endParaRPr lang="en-US" sz="1400" dirty="0"/>
          </a:p>
        </p:txBody>
      </p:sp>
      <p:sp>
        <p:nvSpPr>
          <p:cNvPr id="5" name="Text 3"/>
          <p:cNvSpPr/>
          <p:nvPr/>
        </p:nvSpPr>
        <p:spPr>
          <a:xfrm>
            <a:off x="914400" y="3474720"/>
            <a:ext cx="7315200" cy="1371600"/>
          </a:xfrm>
          <a:prstGeom prst="rect">
            <a:avLst/>
          </a:prstGeom>
          <a:noFill/>
          <a:ln/>
        </p:spPr>
        <p:txBody>
          <a:bodyPr wrap="square" rtlCol="0" anchor="ctr"/>
          <a:lstStyle/>
          <a:p>
            <a:pPr indent="0" marL="0">
              <a:buNone/>
            </a:pPr>
            <a:r>
              <a:rPr lang="en-US" sz="1600" dirty="0">
                <a:solidFill>
                  <a:srgbClr val="FFFFFF"/>
                </a:solidFill>
              </a:rPr>
              <a:t>- The Distributed Oracle: A self-reporting environmental intelligence infrastructure.</a:t>
            </a:r>
            <a:endParaRPr lang="en-US" sz="1600" dirty="0"/>
          </a:p>
          <a:p>
            <a:pPr indent="0" marL="0">
              <a:buNone/>
            </a:pPr>
            <a:r>
              <a:rPr lang="en-US" sz="1600" dirty="0">
                <a:solidFill>
                  <a:srgbClr val="FFFFFF"/>
                </a:solidFill>
              </a:rPr>
              <a:t>- National Interest: Protecting the state's most critical ecological assets.</a:t>
            </a:r>
            <a:endParaRPr lang="en-US" sz="1600" dirty="0"/>
          </a:p>
          <a:p>
            <a:pPr indent="0" marL="0">
              <a:buNone/>
            </a:pPr>
            <a:r>
              <a:rPr lang="en-US" sz="1600" dirty="0">
                <a:solidFill>
                  <a:srgbClr val="FFFFFF"/>
                </a:solidFill>
              </a:rPr>
              <a:t>- Sovereign Security: Securing carbon borders and biodiversity stability.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1 — OPENING &amp; PROBLEM</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Visibility Gap</a:t>
            </a:r>
            <a:endParaRPr lang="en-US" sz="3600" dirty="0"/>
          </a:p>
        </p:txBody>
      </p:sp>
      <p:sp>
        <p:nvSpPr>
          <p:cNvPr id="4" name="Text 2"/>
          <p:cNvSpPr/>
          <p:nvPr/>
        </p:nvSpPr>
        <p:spPr>
          <a:xfrm>
            <a:off x="457200" y="1645920"/>
            <a:ext cx="8229600" cy="457200"/>
          </a:xfrm>
          <a:prstGeom prst="rect">
            <a:avLst/>
          </a:prstGeom>
          <a:noFill/>
          <a:ln/>
        </p:spPr>
        <p:txBody>
          <a:bodyPr wrap="square" rtlCol="0" anchor="ctr"/>
          <a:lstStyle/>
          <a:p>
            <a:pPr indent="0" marL="0">
              <a:buNone/>
            </a:pPr>
            <a:r>
              <a:rPr lang="en-US" sz="2000" b="1" dirty="0">
                <a:solidFill>
                  <a:srgbClr val="EF4444"/>
                </a:solidFill>
              </a:rPr>
              <a:t>10 Million Hectares: Global forest loss per year.</a:t>
            </a:r>
            <a:endParaRPr lang="en-US" sz="2000" dirty="0"/>
          </a:p>
        </p:txBody>
      </p:sp>
      <p:sp>
        <p:nvSpPr>
          <p:cNvPr id="5" name="Text 3"/>
          <p:cNvSpPr/>
          <p:nvPr/>
        </p:nvSpPr>
        <p:spPr>
          <a:xfrm>
            <a:off x="457200" y="2194560"/>
            <a:ext cx="8229600" cy="457200"/>
          </a:xfrm>
          <a:prstGeom prst="rect">
            <a:avLst/>
          </a:prstGeom>
          <a:noFill/>
          <a:ln/>
        </p:spPr>
        <p:txBody>
          <a:bodyPr wrap="square" rtlCol="0" anchor="ctr"/>
          <a:lstStyle/>
          <a:p>
            <a:pPr indent="0" marL="0">
              <a:buNone/>
            </a:pPr>
            <a:r>
              <a:rPr lang="en-US" sz="2000" b="1" dirty="0">
                <a:solidFill>
                  <a:srgbClr val="EF4444"/>
                </a:solidFill>
              </a:rPr>
              <a:t>$152 Billion: Annual cost of illegal logging and environmental crime.</a:t>
            </a:r>
            <a:endParaRPr lang="en-US" sz="2000" dirty="0"/>
          </a:p>
        </p:txBody>
      </p:sp>
      <p:sp>
        <p:nvSpPr>
          <p:cNvPr id="6" name="Text 4"/>
          <p:cNvSpPr/>
          <p:nvPr/>
        </p:nvSpPr>
        <p:spPr>
          <a:xfrm>
            <a:off x="457200" y="2926080"/>
            <a:ext cx="8229600" cy="1371600"/>
          </a:xfrm>
          <a:prstGeom prst="rect">
            <a:avLst/>
          </a:prstGeom>
          <a:noFill/>
          <a:ln/>
        </p:spPr>
        <p:txBody>
          <a:bodyPr wrap="square" rtlCol="0" anchor="ctr"/>
          <a:lstStyle/>
          <a:p>
            <a:pPr indent="0" marL="0">
              <a:buNone/>
            </a:pPr>
            <a:r>
              <a:rPr lang="en-US" sz="1800" dirty="0">
                <a:solidFill>
                  <a:srgbClr val="FFFFFF"/>
                </a:solidFill>
              </a:rPr>
              <a:t>- Ecological Silence: The collapse of biodiversity that happens before the first tree falls.</a:t>
            </a:r>
            <a:endParaRPr lang="en-US" sz="1800" dirty="0"/>
          </a:p>
          <a:p>
            <a:pPr indent="0" marL="0">
              <a:buNone/>
            </a:pPr>
            <a:r>
              <a:rPr lang="en-US" sz="1800" dirty="0">
                <a:solidFill>
                  <a:srgbClr val="FFFFFF"/>
                </a:solidFill>
              </a:rPr>
              <a:t>- Climate Instability: 15% of global emissions driven by unmonitored deforestation.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Consequence of Silence</a:t>
            </a:r>
            <a:endParaRPr lang="en-US" sz="3600" dirty="0"/>
          </a:p>
        </p:txBody>
      </p:sp>
      <p:sp>
        <p:nvSpPr>
          <p:cNvPr id="3" name="Text 1"/>
          <p:cNvSpPr/>
          <p:nvPr/>
        </p:nvSpPr>
        <p:spPr>
          <a:xfrm>
            <a:off x="914400" y="1645920"/>
            <a:ext cx="7315200" cy="2286000"/>
          </a:xfrm>
          <a:prstGeom prst="rect">
            <a:avLst/>
          </a:prstGeom>
          <a:noFill/>
          <a:ln/>
        </p:spPr>
        <p:txBody>
          <a:bodyPr wrap="square" rtlCol="0" anchor="ctr"/>
          <a:lstStyle/>
          <a:p>
            <a:pPr indent="0" marL="0">
              <a:buNone/>
            </a:pPr>
            <a:r>
              <a:rPr lang="en-US" sz="2000" dirty="0">
                <a:solidFill>
                  <a:srgbClr val="FFFFFF"/>
                </a:solidFill>
              </a:rPr>
              <a:t>- Water Systems Destabilize: Loss of watershed integrity.</a:t>
            </a:r>
            <a:endParaRPr lang="en-US" sz="2000" dirty="0"/>
          </a:p>
          <a:p>
            <a:pPr indent="0" marL="0">
              <a:buNone/>
            </a:pPr>
            <a:r>
              <a:rPr lang="en-US" sz="2000" dirty="0">
                <a:solidFill>
                  <a:srgbClr val="FFFFFF"/>
                </a:solidFill>
              </a:rPr>
              <a:t>- Wildlife Corridors Collapse: Fragmentation of migration paths.</a:t>
            </a:r>
            <a:endParaRPr lang="en-US" sz="2000" dirty="0"/>
          </a:p>
          <a:p>
            <a:pPr indent="0" marL="0">
              <a:buNone/>
            </a:pPr>
            <a:r>
              <a:rPr lang="en-US" sz="2000" dirty="0">
                <a:solidFill>
                  <a:srgbClr val="FFFFFF"/>
                </a:solidFill>
              </a:rPr>
              <a:t>- Indigenous Communities lose protection: Threats to ancestral livelihoods.</a:t>
            </a:r>
            <a:endParaRPr lang="en-US" sz="2000" dirty="0"/>
          </a:p>
          <a:p>
            <a:pPr indent="0" marL="0">
              <a:buNone/>
            </a:pPr>
            <a:r>
              <a:rPr lang="en-US" sz="2000" dirty="0">
                <a:solidFill>
                  <a:srgbClr val="FFFFFF"/>
                </a:solidFill>
              </a:rPr>
              <a:t>- Wildfires accelerate exponentially: Fuel buildup and dry-out.</a:t>
            </a:r>
            <a:endParaRPr lang="en-US" sz="20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2400" i="1" dirty="0">
                <a:solidFill>
                  <a:srgbClr val="F59E0B"/>
                </a:solidFill>
              </a:rPr>
              <a:t>Environmental collapse begins silently.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Reactive vs. Proactive</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Satellite Latency: You only see what happened yesterday.</a:t>
            </a:r>
            <a:endParaRPr lang="en-US" sz="1800" dirty="0"/>
          </a:p>
          <a:p>
            <a:pPr indent="0" marL="0">
              <a:buNone/>
            </a:pPr>
            <a:r>
              <a:rPr lang="en-US" sz="1800" dirty="0">
                <a:solidFill>
                  <a:srgbClr val="FFFFFF"/>
                </a:solidFill>
              </a:rPr>
              <a:t>- Patrol Fragmention: Rangers cover &lt;5% of dense terrain.</a:t>
            </a:r>
            <a:endParaRPr lang="en-US" sz="1800" dirty="0"/>
          </a:p>
          <a:p>
            <a:pPr indent="0" marL="0">
              <a:buNone/>
            </a:pPr>
            <a:r>
              <a:rPr lang="en-US" sz="1800" dirty="0">
                <a:solidFill>
                  <a:srgbClr val="FFFFFF"/>
                </a:solidFill>
              </a:rPr>
              <a:t>- Acoustic Noise: Traditional sensors fail to distinguish chainsaws from wind.</a:t>
            </a:r>
            <a:endParaRPr lang="en-US" sz="1800" dirty="0"/>
          </a:p>
          <a:p>
            <a:pPr indent="0" marL="0">
              <a:buNone/>
            </a:pPr>
            <a:r>
              <a:rPr lang="en-US" sz="1800" dirty="0">
                <a:solidFill>
                  <a:srgbClr val="FFFFFF"/>
                </a:solidFill>
              </a:rPr>
              <a:t>- Information Gap: Loggers know the schedule; rangers are blind to the source.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Technological Convergence</a:t>
            </a:r>
            <a:endParaRPr lang="en-US" sz="3600" dirty="0"/>
          </a:p>
        </p:txBody>
      </p:sp>
      <p:sp>
        <p:nvSpPr>
          <p:cNvPr id="3" name="Text 1"/>
          <p:cNvSpPr/>
          <p:nvPr/>
        </p:nvSpPr>
        <p:spPr>
          <a:xfrm>
            <a:off x="914400" y="1645920"/>
            <a:ext cx="7315200" cy="2286000"/>
          </a:xfrm>
          <a:prstGeom prst="rect">
            <a:avLst/>
          </a:prstGeom>
          <a:noFill/>
          <a:ln/>
        </p:spPr>
        <p:txBody>
          <a:bodyPr wrap="square" rtlCol="0" anchor="ctr"/>
          <a:lstStyle/>
          <a:p>
            <a:pPr indent="0" marL="0">
              <a:buNone/>
            </a:pPr>
            <a:r>
              <a:rPr lang="en-US" sz="1800" dirty="0">
                <a:solidFill>
                  <a:srgbClr val="FFFFFF"/>
                </a:solidFill>
              </a:rPr>
              <a:t>- Edge AI Maturity: TinyML allows intelligence at the source.</a:t>
            </a:r>
            <a:endParaRPr lang="en-US" sz="1800" dirty="0"/>
          </a:p>
          <a:p>
            <a:pPr indent="0" marL="0">
              <a:buNone/>
            </a:pPr>
            <a:r>
              <a:rPr lang="en-US" sz="1800" dirty="0">
                <a:solidFill>
                  <a:srgbClr val="FFFFFF"/>
                </a:solidFill>
              </a:rPr>
              <a:t>- Mesh Connectivity: LoRaWAN penetrates dense canopy.</a:t>
            </a:r>
            <a:endParaRPr lang="en-US" sz="1800" dirty="0"/>
          </a:p>
          <a:p>
            <a:pPr indent="0" marL="0">
              <a:buNone/>
            </a:pPr>
            <a:r>
              <a:rPr lang="en-US" sz="1800" dirty="0">
                <a:solidFill>
                  <a:srgbClr val="FFFFFF"/>
                </a:solidFill>
              </a:rPr>
              <a:t>- Energy Autonomy: High-efficiency solar for multi-year deployment.</a:t>
            </a:r>
            <a:endParaRPr lang="en-US" sz="1800" dirty="0"/>
          </a:p>
          <a:p>
            <a:pPr indent="0" marL="0">
              <a:buNone/>
            </a:pPr>
            <a:r>
              <a:rPr lang="en-US" sz="1800" dirty="0">
                <a:solidFill>
                  <a:srgbClr val="FFFFFF"/>
                </a:solidFill>
              </a:rPr>
              <a:t>- Institutional Urgency: Global carbon markets demand verifiable data.</a:t>
            </a:r>
            <a:endParaRPr lang="en-US" sz="18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1800" b="1" dirty="0">
                <a:solidFill>
                  <a:srgbClr val="10B981"/>
                </a:solidFill>
              </a:rPr>
              <a:t>The technology to build a living forest intelligence system finally exists.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2 — THE CORE IDEA</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Forest Nervous System</a:t>
            </a:r>
            <a:endParaRPr lang="en-US" sz="3600" dirty="0"/>
          </a:p>
        </p:txBody>
      </p:sp>
      <p:sp>
        <p:nvSpPr>
          <p:cNvPr id="4" name="Text 2"/>
          <p:cNvSpPr/>
          <p:nvPr/>
        </p:nvSpPr>
        <p:spPr>
          <a:xfrm>
            <a:off x="914400" y="1645920"/>
            <a:ext cx="7315200" cy="2286000"/>
          </a:xfrm>
          <a:prstGeom prst="rect">
            <a:avLst/>
          </a:prstGeom>
          <a:noFill/>
          <a:ln/>
        </p:spPr>
        <p:txBody>
          <a:bodyPr wrap="square" rtlCol="0" anchor="ctr"/>
          <a:lstStyle/>
          <a:p>
            <a:pPr indent="0" marL="0">
              <a:buNone/>
            </a:pPr>
            <a:r>
              <a:rPr lang="en-US" sz="2000" dirty="0">
                <a:solidFill>
                  <a:srgbClr val="FFFFFF"/>
                </a:solidFill>
              </a:rPr>
              <a:t>- Autonomous Perception: A system that listens, feels, and understands.</a:t>
            </a:r>
            <a:endParaRPr lang="en-US" sz="2000" dirty="0"/>
          </a:p>
          <a:p>
            <a:pPr indent="0" marL="0">
              <a:buNone/>
            </a:pPr>
            <a:r>
              <a:rPr lang="en-US" sz="2000" dirty="0">
                <a:solidFill>
                  <a:srgbClr val="FFFFFF"/>
                </a:solidFill>
              </a:rPr>
              <a:t>- Distributed Intelligence: Intelligence lives at the edge, not just the cloud.</a:t>
            </a:r>
            <a:endParaRPr lang="en-US" sz="2000" dirty="0"/>
          </a:p>
          <a:p>
            <a:pPr indent="0" marL="0">
              <a:buNone/>
            </a:pPr>
            <a:r>
              <a:rPr lang="en-US" sz="2000" dirty="0">
                <a:solidFill>
                  <a:srgbClr val="FFFFFF"/>
                </a:solidFill>
              </a:rPr>
              <a:t>- Predictive Governance: Detecting threats before the first tree is felled.</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Intelligence Loop</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1. SENSE: Nodes monitor acoustic and seismic signatures.</a:t>
            </a:r>
            <a:endParaRPr lang="en-US" sz="1800" dirty="0"/>
          </a:p>
          <a:p>
            <a:pPr indent="0" marL="0">
              <a:buNone/>
            </a:pPr>
            <a:r>
              <a:rPr lang="en-US" sz="1800" dirty="0">
                <a:solidFill>
                  <a:srgbClr val="FFFFFF"/>
                </a:solidFill>
              </a:rPr>
              <a:t>2. ANALYZE: Edge AI identifies anomalies (Chainsaw vs. Wind).</a:t>
            </a:r>
            <a:endParaRPr lang="en-US" sz="1800" dirty="0"/>
          </a:p>
          <a:p>
            <a:pPr indent="0" marL="0">
              <a:buNone/>
            </a:pPr>
            <a:r>
              <a:rPr lang="en-US" sz="1800" dirty="0">
                <a:solidFill>
                  <a:srgbClr val="FFFFFF"/>
                </a:solidFill>
              </a:rPr>
              <a:t>3. LOCALIZE: TDOA mesh triangulates the source (±4.5m).</a:t>
            </a:r>
            <a:endParaRPr lang="en-US" sz="1800" dirty="0"/>
          </a:p>
          <a:p>
            <a:pPr indent="0" marL="0">
              <a:buNone/>
            </a:pPr>
            <a:r>
              <a:rPr lang="en-US" sz="1800" dirty="0">
                <a:solidFill>
                  <a:srgbClr val="FFFFFF"/>
                </a:solidFill>
              </a:rPr>
              <a:t>4. ESCALATE: Probabilistic threat scores trigger protocols.</a:t>
            </a:r>
            <a:endParaRPr lang="en-US" sz="1800" dirty="0"/>
          </a:p>
          <a:p>
            <a:pPr indent="0" marL="0">
              <a:buNone/>
            </a:pPr>
            <a:r>
              <a:rPr lang="en-US" sz="1800" dirty="0">
                <a:solidFill>
                  <a:srgbClr val="FFFFFF"/>
                </a:solidFill>
              </a:rPr>
              <a:t>5. ACT: Rangers receive precise tactical routing.</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Operational Leap</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400" b="1" dirty="0">
                          <a:solidFill>
                            <a:srgbClr val="10B981"/>
                          </a:solidFill>
                        </a:rPr>
                        <a:t>Feature</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b="1" dirty="0">
                          <a:solidFill>
                            <a:srgbClr val="FFFFFF"/>
                          </a:solidFill>
                        </a:rPr>
                        <a:t>Traditional</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b="1" dirty="0">
                          <a:solidFill>
                            <a:srgbClr val="10B981"/>
                          </a:solidFill>
                        </a:rPr>
                        <a:t>VanRakshak-X</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r>
              <a:tr h="0">
                <a:tc>
                  <a:txBody>
                    <a:bodyPr/>
                    <a:lstStyle/>
                    <a:p>
                      <a:pPr indent="0" marL="0">
                        <a:buNone/>
                      </a:pPr>
                      <a:r>
                        <a:rPr lang="en-US" sz="1400" dirty="0">
                          <a:solidFill>
                            <a:srgbClr val="FFFFFF"/>
                          </a:solidFill>
                        </a:rPr>
                        <a:t>Response Time</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Hours / Days</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&lt; 2.5 Seconds</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r>
              <a:tr h="0">
                <a:tc>
                  <a:txBody>
                    <a:bodyPr/>
                    <a:lstStyle/>
                    <a:p>
                      <a:pPr indent="0" marL="0">
                        <a:buNone/>
                      </a:pPr>
                      <a:r>
                        <a:rPr lang="en-US" sz="1400" dirty="0">
                          <a:solidFill>
                            <a:srgbClr val="FFFFFF"/>
                          </a:solidFill>
                        </a:rPr>
                        <a:t>Precision</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&gt; 100m Radius</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 4.5 Meters</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r>
              <a:tr h="0">
                <a:tc>
                  <a:txBody>
                    <a:bodyPr/>
                    <a:lstStyle/>
                    <a:p>
                      <a:pPr indent="0" marL="0">
                        <a:buNone/>
                      </a:pPr>
                      <a:r>
                        <a:rPr lang="en-US" sz="1400" dirty="0">
                          <a:solidFill>
                            <a:srgbClr val="FFFFFF"/>
                          </a:solidFill>
                        </a:rPr>
                        <a:t>Detection</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Binary (On/Off)</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Probabilistic Fusion</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r>
              <a:tr h="0">
                <a:tc>
                  <a:txBody>
                    <a:bodyPr/>
                    <a:lstStyle/>
                    <a:p>
                      <a:pPr indent="0" marL="0">
                        <a:buNone/>
                      </a:pPr>
                      <a:r>
                        <a:rPr lang="en-US" sz="1400" dirty="0">
                          <a:solidFill>
                            <a:srgbClr val="FFFFFF"/>
                          </a:solidFill>
                        </a:rPr>
                        <a:t>Intelligence</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Static / Reactive</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c>
                  <a:txBody>
                    <a:bodyPr/>
                    <a:lstStyle/>
                    <a:p>
                      <a:pPr indent="0" marL="0">
                        <a:buNone/>
                      </a:pPr>
                      <a:r>
                        <a:rPr lang="en-US" sz="1400" dirty="0">
                          <a:solidFill>
                            <a:srgbClr val="FFFFFF"/>
                          </a:solidFill>
                        </a:rPr>
                        <a:t>Living / Predictive</a:t>
                      </a:r>
                      <a:endParaRPr lang="en-US" sz="1400" dirty="0"/>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151515"/>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3 — SYSTEM ARCHITECTURE</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Vertical Intelligence Stack</a:t>
            </a:r>
            <a:endParaRPr lang="en-US" sz="3600" dirty="0"/>
          </a:p>
        </p:txBody>
      </p:sp>
      <p:sp>
        <p:nvSpPr>
          <p:cNvPr id="4" name="Text 2"/>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Layer 1: Terrain (Sentinel Nodes): Edge-AI &amp; Multimodal sensing.</a:t>
            </a:r>
            <a:endParaRPr lang="en-US" sz="1800" dirty="0"/>
          </a:p>
          <a:p>
            <a:pPr indent="0" marL="0">
              <a:buNone/>
            </a:pPr>
            <a:r>
              <a:rPr lang="en-US" sz="1800" dirty="0">
                <a:solidFill>
                  <a:srgbClr val="FFFFFF"/>
                </a:solidFill>
              </a:rPr>
              <a:t>- Layer 2: Mesh (LoRa Tier-1): Resilient, long-range telemetry.</a:t>
            </a:r>
            <a:endParaRPr lang="en-US" sz="1800" dirty="0"/>
          </a:p>
          <a:p>
            <a:pPr indent="0" marL="0">
              <a:buNone/>
            </a:pPr>
            <a:r>
              <a:rPr lang="en-US" sz="1800" dirty="0">
                <a:solidFill>
                  <a:srgbClr val="FFFFFF"/>
                </a:solidFill>
              </a:rPr>
              <a:t>- Layer 3: Command (Cloud OS): Bayesian predictive modeling.</a:t>
            </a:r>
            <a:endParaRPr lang="en-US" sz="1800" dirty="0"/>
          </a:p>
          <a:p>
            <a:pPr indent="0" marL="0">
              <a:buNone/>
            </a:pPr>
            <a:r>
              <a:rPr lang="en-US" sz="1800" dirty="0">
                <a:solidFill>
                  <a:srgbClr val="FFFFFF"/>
                </a:solidFill>
              </a:rPr>
              <a:t>- Layer 4: Field (Rakshak App): Tactical routing &amp; field verification.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Multimodal Sentinel Hardware</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Bioacoustics: High-fidelity MEMS array for soundscape analysis.</a:t>
            </a:r>
            <a:endParaRPr lang="en-US" sz="1800" dirty="0"/>
          </a:p>
          <a:p>
            <a:pPr indent="0" marL="0">
              <a:buNone/>
            </a:pPr>
            <a:r>
              <a:rPr lang="en-US" sz="1800" dirty="0">
                <a:solidFill>
                  <a:srgbClr val="FFFFFF"/>
                </a:solidFill>
              </a:rPr>
              <a:t>- Seismic/Tilt: MPU6050 for mechanical impact and tree inclination.</a:t>
            </a:r>
            <a:endParaRPr lang="en-US" sz="1800" dirty="0"/>
          </a:p>
          <a:p>
            <a:pPr indent="0" marL="0">
              <a:buNone/>
            </a:pPr>
            <a:r>
              <a:rPr lang="en-US" sz="1800" dirty="0">
                <a:solidFill>
                  <a:srgbClr val="FFFFFF"/>
                </a:solidFill>
              </a:rPr>
              <a:t>- Environmental: Context-aware sensors for adaptive thresholding.</a:t>
            </a:r>
            <a:endParaRPr lang="en-US" sz="1800" dirty="0"/>
          </a:p>
          <a:p>
            <a:pPr indent="0" marL="0">
              <a:buNone/>
            </a:pPr>
            <a:r>
              <a:rPr lang="en-US" sz="1800" dirty="0">
                <a:solidFill>
                  <a:srgbClr val="FFFFFF"/>
                </a:solidFill>
              </a:rPr>
              <a:t>- Energy: Solar-harvesting IP68 enclosures with biomimetic camouflage.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Intelligence at the Edge</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TinyML 1D-CNN: Real-time classification on the ESP32-S3.</a:t>
            </a:r>
            <a:endParaRPr lang="en-US" sz="1800" dirty="0"/>
          </a:p>
          <a:p>
            <a:pPr indent="0" marL="0">
              <a:buNone/>
            </a:pPr>
            <a:r>
              <a:rPr lang="en-US" sz="1800" dirty="0">
                <a:solidFill>
                  <a:srgbClr val="FFFFFF"/>
                </a:solidFill>
              </a:rPr>
              <a:t>- Ecological Silence: Detection of bird/insect activity drops.</a:t>
            </a:r>
            <a:endParaRPr lang="en-US" sz="1800" dirty="0"/>
          </a:p>
          <a:p>
            <a:pPr indent="0" marL="0">
              <a:buNone/>
            </a:pPr>
            <a:r>
              <a:rPr lang="en-US" sz="1800" dirty="0">
                <a:solidFill>
                  <a:srgbClr val="FFFFFF"/>
                </a:solidFill>
              </a:rPr>
              <a:t>- Anomaly Scoring: Distinguishing chainsaws from wind/rain.</a:t>
            </a:r>
            <a:endParaRPr lang="en-US" sz="1800" dirty="0"/>
          </a:p>
          <a:p>
            <a:pPr indent="0" marL="0">
              <a:buNone/>
            </a:pPr>
            <a:r>
              <a:rPr lang="en-US" sz="1800" dirty="0">
                <a:solidFill>
                  <a:srgbClr val="FFFFFF"/>
                </a:solidFill>
              </a:rPr>
              <a:t>- Power Efficient: Hierarchical wake-up logic for 5+ year lifespan.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Probabilistic Threat Engine</a:t>
            </a:r>
            <a:endParaRPr lang="en-US" sz="3600" dirty="0"/>
          </a:p>
        </p:txBody>
      </p:sp>
      <p:sp>
        <p:nvSpPr>
          <p:cNvPr id="3" name="Text 1"/>
          <p:cNvSpPr/>
          <p:nvPr/>
        </p:nvSpPr>
        <p:spPr>
          <a:xfrm>
            <a:off x="914400" y="1828800"/>
            <a:ext cx="7315200" cy="914400"/>
          </a:xfrm>
          <a:prstGeom prst="rect">
            <a:avLst/>
          </a:prstGeom>
          <a:solidFill>
            <a:srgbClr val="000000"/>
          </a:solidFill>
          <a:ln/>
        </p:spPr>
        <p:txBody>
          <a:bodyPr wrap="square" rtlCol="0" anchor="ctr"/>
          <a:lstStyle/>
          <a:p>
            <a:pPr algn="ctr" indent="0" marL="0">
              <a:buNone/>
            </a:pPr>
            <a:r>
              <a:rPr lang="en-US" sz="4400" dirty="0">
                <a:solidFill>
                  <a:srgbClr val="10B981"/>
                </a:solidFill>
                <a:latin typeface="Courier New" pitchFamily="34" charset="0"/>
                <a:ea typeface="Courier New" pitchFamily="34" charset="-122"/>
                <a:cs typeface="Courier New" pitchFamily="34" charset="-120"/>
              </a:rPr>
              <a:t>Tn+1 = αA + βV + γE + δH</a:t>
            </a:r>
            <a:endParaRPr lang="en-US" sz="4400" dirty="0"/>
          </a:p>
        </p:txBody>
      </p:sp>
      <p:sp>
        <p:nvSpPr>
          <p:cNvPr id="4" name="Text 2"/>
          <p:cNvSpPr/>
          <p:nvPr/>
        </p:nvSpPr>
        <p:spPr>
          <a:xfrm>
            <a:off x="914400" y="3200400"/>
            <a:ext cx="7315200" cy="457200"/>
          </a:xfrm>
          <a:prstGeom prst="rect">
            <a:avLst/>
          </a:prstGeom>
          <a:noFill/>
          <a:ln/>
        </p:spPr>
        <p:txBody>
          <a:bodyPr wrap="square" rtlCol="0" anchor="ctr"/>
          <a:lstStyle/>
          <a:p>
            <a:pPr algn="ctr" indent="0" marL="0">
              <a:buNone/>
            </a:pPr>
            <a:r>
              <a:rPr lang="en-US" sz="1400" dirty="0">
                <a:solidFill>
                  <a:srgbClr val="888888"/>
                </a:solidFill>
              </a:rPr>
              <a:t>Variables: Acoustic Confidence (A), Seismic Resonance (V), Environmental Context (E), Historical Risk (H).</a:t>
            </a:r>
            <a:endParaRPr lang="en-US" sz="1400" dirty="0"/>
          </a:p>
        </p:txBody>
      </p:sp>
      <p:sp>
        <p:nvSpPr>
          <p:cNvPr id="5" name="Text 3"/>
          <p:cNvSpPr/>
          <p:nvPr/>
        </p:nvSpPr>
        <p:spPr>
          <a:xfrm>
            <a:off x="914400" y="4114800"/>
            <a:ext cx="7315200" cy="457200"/>
          </a:xfrm>
          <a:prstGeom prst="rect">
            <a:avLst/>
          </a:prstGeom>
          <a:noFill/>
          <a:ln/>
        </p:spPr>
        <p:txBody>
          <a:bodyPr wrap="square" rtlCol="0" anchor="ctr"/>
          <a:lstStyle/>
          <a:p>
            <a:pPr algn="ctr" indent="0" marL="0">
              <a:buNone/>
            </a:pPr>
            <a:r>
              <a:rPr lang="en-US" sz="1800" dirty="0">
                <a:solidFill>
                  <a:srgbClr val="10B981"/>
                </a:solidFill>
              </a:rPr>
              <a:t>The system thinks probabilistically, not reactively.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Precision Triangulation</a:t>
            </a:r>
            <a:endParaRPr lang="en-US" sz="3600" dirty="0"/>
          </a:p>
        </p:txBody>
      </p:sp>
      <p:sp>
        <p:nvSpPr>
          <p:cNvPr id="3" name="Text 1"/>
          <p:cNvSpPr/>
          <p:nvPr/>
        </p:nvSpPr>
        <p:spPr>
          <a:xfrm>
            <a:off x="914400" y="1645920"/>
            <a:ext cx="7315200" cy="1828800"/>
          </a:xfrm>
          <a:prstGeom prst="rect">
            <a:avLst/>
          </a:prstGeom>
          <a:noFill/>
          <a:ln/>
        </p:spPr>
        <p:txBody>
          <a:bodyPr wrap="square" rtlCol="0" anchor="ctr"/>
          <a:lstStyle/>
          <a:p>
            <a:pPr indent="0" marL="0">
              <a:buNone/>
            </a:pPr>
            <a:r>
              <a:rPr lang="en-US" sz="2000" dirty="0">
                <a:solidFill>
                  <a:srgbClr val="FFFFFF"/>
                </a:solidFill>
              </a:rPr>
              <a:t>- TDOA Triangulation: ±4.5m precision via mesh timestamps.</a:t>
            </a:r>
            <a:endParaRPr lang="en-US" sz="2000" dirty="0"/>
          </a:p>
          <a:p>
            <a:pPr indent="0" marL="0">
              <a:buNone/>
            </a:pPr>
            <a:r>
              <a:rPr lang="en-US" sz="2000" dirty="0">
                <a:solidFill>
                  <a:srgbClr val="FFFFFF"/>
                </a:solidFill>
              </a:rPr>
              <a:t>- Source Tracking: Real-time movement tracking of threats.</a:t>
            </a:r>
            <a:endParaRPr lang="en-US" sz="2000" dirty="0"/>
          </a:p>
          <a:p>
            <a:pPr indent="0" marL="0">
              <a:buNone/>
            </a:pPr>
            <a:r>
              <a:rPr lang="en-US" sz="2000" dirty="0">
                <a:solidFill>
                  <a:srgbClr val="FFFFFF"/>
                </a:solidFill>
              </a:rPr>
              <a:t>- Ranger Routing: Converting coordinates to tactical paths.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Quantifying Ecosystem Stability</a:t>
            </a:r>
            <a:endParaRPr lang="en-US" sz="3600" dirty="0"/>
          </a:p>
        </p:txBody>
      </p:sp>
      <p:sp>
        <p:nvSpPr>
          <p:cNvPr id="3" name="Text 1"/>
          <p:cNvSpPr/>
          <p:nvPr/>
        </p:nvSpPr>
        <p:spPr>
          <a:xfrm>
            <a:off x="914400" y="1828800"/>
            <a:ext cx="7315200" cy="914400"/>
          </a:xfrm>
          <a:prstGeom prst="rect">
            <a:avLst/>
          </a:prstGeom>
          <a:noFill/>
          <a:ln/>
        </p:spPr>
        <p:txBody>
          <a:bodyPr wrap="square" rtlCol="0" anchor="ctr"/>
          <a:lstStyle/>
          <a:p>
            <a:pPr algn="ctr" indent="0" marL="0">
              <a:buNone/>
            </a:pPr>
            <a:r>
              <a:rPr lang="en-US" sz="3600" dirty="0">
                <a:solidFill>
                  <a:srgbClr val="F59E0B"/>
                </a:solidFill>
              </a:rPr>
              <a:t>F = 0.3B + 0.25N + 0.25E + 0.2S</a:t>
            </a:r>
            <a:endParaRPr lang="en-US" sz="3600" dirty="0"/>
          </a:p>
        </p:txBody>
      </p:sp>
      <p:sp>
        <p:nvSpPr>
          <p:cNvPr id="4" name="Text 2"/>
          <p:cNvSpPr/>
          <p:nvPr/>
        </p:nvSpPr>
        <p:spPr>
          <a:xfrm>
            <a:off x="914400" y="2926080"/>
            <a:ext cx="7315200" cy="1371600"/>
          </a:xfrm>
          <a:prstGeom prst="rect">
            <a:avLst/>
          </a:prstGeom>
          <a:noFill/>
          <a:ln/>
        </p:spPr>
        <p:txBody>
          <a:bodyPr wrap="square" rtlCol="0" anchor="ctr"/>
          <a:lstStyle/>
          <a:p>
            <a:pPr indent="0" marL="0">
              <a:buNone/>
            </a:pPr>
            <a:r>
              <a:rPr lang="en-US" sz="1800" dirty="0">
                <a:solidFill>
                  <a:srgbClr val="FFFFFF"/>
                </a:solidFill>
              </a:rPr>
              <a:t>- Biodiversity Audits: Real-time health metrics.</a:t>
            </a:r>
            <a:endParaRPr lang="en-US" sz="1800" dirty="0"/>
          </a:p>
          <a:p>
            <a:pPr indent="0" marL="0">
              <a:buNone/>
            </a:pPr>
            <a:r>
              <a:rPr lang="en-US" sz="1800" dirty="0">
                <a:solidFill>
                  <a:srgbClr val="FFFFFF"/>
                </a:solidFill>
              </a:rPr>
              <a:t>- Conservation Scoring: Evidence-based protection data.</a:t>
            </a:r>
            <a:endParaRPr lang="en-US" sz="1800" dirty="0"/>
          </a:p>
          <a:p>
            <a:pPr indent="0" marL="0">
              <a:buNone/>
            </a:pPr>
            <a:r>
              <a:rPr lang="en-US" sz="1800" dirty="0">
                <a:solidFill>
                  <a:srgbClr val="FFFFFF"/>
                </a:solidFill>
              </a:rPr>
              <a:t>- Carbon Verification: Verifiable integrity for offset markets.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4 — COMMAND &amp; OPERATIONS</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Ecological Operating System</a:t>
            </a:r>
            <a:endParaRPr lang="en-US" sz="3600" dirty="0"/>
          </a:p>
        </p:txBody>
      </p:sp>
      <p:sp>
        <p:nvSpPr>
          <p:cNvPr id="4" name="Text 2"/>
          <p:cNvSpPr/>
          <p:nvPr/>
        </p:nvSpPr>
        <p:spPr>
          <a:xfrm>
            <a:off x="914400" y="1645920"/>
            <a:ext cx="7315200" cy="2286000"/>
          </a:xfrm>
          <a:prstGeom prst="rect">
            <a:avLst/>
          </a:prstGeom>
          <a:noFill/>
          <a:ln/>
        </p:spPr>
        <p:txBody>
          <a:bodyPr wrap="square" rtlCol="0" anchor="ctr"/>
          <a:lstStyle/>
          <a:p>
            <a:pPr indent="0" marL="0">
              <a:buNone/>
            </a:pPr>
            <a:r>
              <a:rPr lang="en-US" sz="1800" dirty="0">
                <a:solidFill>
                  <a:srgbClr val="FFFFFF"/>
                </a:solidFill>
              </a:rPr>
              <a:t>- Global View: Full-screen geospatial visualization.</a:t>
            </a:r>
            <a:endParaRPr lang="en-US" sz="1800" dirty="0"/>
          </a:p>
          <a:p>
            <a:pPr indent="0" marL="0">
              <a:buNone/>
            </a:pPr>
            <a:r>
              <a:rPr lang="en-US" sz="1800" dirty="0">
                <a:solidFill>
                  <a:srgbClr val="FFFFFF"/>
                </a:solidFill>
              </a:rPr>
              <a:t>- Live Telemetry: Real-time streams from every node.</a:t>
            </a:r>
            <a:endParaRPr lang="en-US" sz="1800" dirty="0"/>
          </a:p>
          <a:p>
            <a:pPr indent="0" marL="0">
              <a:buNone/>
            </a:pPr>
            <a:r>
              <a:rPr lang="en-US" sz="1800" dirty="0">
                <a:solidFill>
                  <a:srgbClr val="FFFFFF"/>
                </a:solidFill>
              </a:rPr>
              <a:t>- Threat Escalation: Color-coded alerts (Amber → Critical).</a:t>
            </a:r>
            <a:endParaRPr lang="en-US" sz="1800" dirty="0"/>
          </a:p>
          <a:p>
            <a:pPr indent="0" marL="0">
              <a:buNone/>
            </a:pPr>
            <a:r>
              <a:rPr lang="en-US" sz="1800" dirty="0">
                <a:solidFill>
                  <a:srgbClr val="FFFFFF"/>
                </a:solidFill>
              </a:rPr>
              <a:t>- Tactical HUD: Control of field units and drone assets.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From Detection to Interdiction</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1. Detection: T &lt; 2.5s (Acoustic/Seismic Fusion).</a:t>
            </a:r>
            <a:endParaRPr lang="en-US" sz="1800" dirty="0"/>
          </a:p>
          <a:p>
            <a:pPr indent="0" marL="0">
              <a:buNone/>
            </a:pPr>
            <a:r>
              <a:rPr lang="en-US" sz="1800" dirty="0">
                <a:solidFill>
                  <a:srgbClr val="FFFFFF"/>
                </a:solidFill>
              </a:rPr>
              <a:t>2. Classification: Identification as 'Illegal Logging'.</a:t>
            </a:r>
            <a:endParaRPr lang="en-US" sz="1800" dirty="0"/>
          </a:p>
          <a:p>
            <a:pPr indent="0" marL="0">
              <a:buNone/>
            </a:pPr>
            <a:r>
              <a:rPr lang="en-US" sz="1800" dirty="0">
                <a:solidFill>
                  <a:srgbClr val="FFFFFF"/>
                </a:solidFill>
              </a:rPr>
              <a:t>3. Localization: GPS Coordinate generation (TDOA).</a:t>
            </a:r>
            <a:endParaRPr lang="en-US" sz="1800" dirty="0"/>
          </a:p>
          <a:p>
            <a:pPr indent="0" marL="0">
              <a:buNone/>
            </a:pPr>
            <a:r>
              <a:rPr lang="en-US" sz="1800" dirty="0">
                <a:solidFill>
                  <a:srgbClr val="FFFFFF"/>
                </a:solidFill>
              </a:rPr>
              <a:t>4. Dispatch: Alert routed to nearest field units.</a:t>
            </a:r>
            <a:endParaRPr lang="en-US" sz="1800" dirty="0"/>
          </a:p>
          <a:p>
            <a:pPr indent="0" marL="0">
              <a:buNone/>
            </a:pPr>
            <a:r>
              <a:rPr lang="en-US" sz="1800" dirty="0">
                <a:solidFill>
                  <a:srgbClr val="FFFFFF"/>
                </a:solidFill>
              </a:rPr>
              <a:t>5. Closure: Incident logged on an immutable ledger.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Augmenting Authority</a:t>
            </a:r>
            <a:endParaRPr lang="en-US" sz="3600" dirty="0"/>
          </a:p>
        </p:txBody>
      </p:sp>
      <p:sp>
        <p:nvSpPr>
          <p:cNvPr id="3" name="Text 1"/>
          <p:cNvSpPr/>
          <p:nvPr/>
        </p:nvSpPr>
        <p:spPr>
          <a:xfrm>
            <a:off x="914400" y="1645920"/>
            <a:ext cx="7315200" cy="1828800"/>
          </a:xfrm>
          <a:prstGeom prst="rect">
            <a:avLst/>
          </a:prstGeom>
          <a:noFill/>
          <a:ln/>
        </p:spPr>
        <p:txBody>
          <a:bodyPr wrap="square" rtlCol="0" anchor="ctr"/>
          <a:lstStyle/>
          <a:p>
            <a:pPr indent="0" marL="0">
              <a:buNone/>
            </a:pPr>
            <a:r>
              <a:rPr lang="en-US" sz="2000" dirty="0">
                <a:solidFill>
                  <a:srgbClr val="FFFFFF"/>
                </a:solidFill>
              </a:rPr>
              <a:t>- Ranger Validation: Field units confirm AI alerts.</a:t>
            </a:r>
            <a:endParaRPr lang="en-US" sz="2000" dirty="0"/>
          </a:p>
          <a:p>
            <a:pPr indent="0" marL="0">
              <a:buNone/>
            </a:pPr>
            <a:r>
              <a:rPr lang="en-US" sz="2000" dirty="0">
                <a:solidFill>
                  <a:srgbClr val="FFFFFF"/>
                </a:solidFill>
              </a:rPr>
              <a:t>- Audio Snippets: 5s audio clips sent for human review.</a:t>
            </a:r>
            <a:endParaRPr lang="en-US" sz="2000" dirty="0"/>
          </a:p>
          <a:p>
            <a:pPr indent="0" marL="0">
              <a:buNone/>
            </a:pPr>
            <a:r>
              <a:rPr lang="en-US" sz="2000" dirty="0">
                <a:solidFill>
                  <a:srgbClr val="FFFFFF"/>
                </a:solidFill>
              </a:rPr>
              <a:t>- Decision Support: AI provides the 'What' and 'Where'.</a:t>
            </a:r>
            <a:endParaRPr lang="en-US" sz="20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1800" b="1" dirty="0">
                <a:solidFill>
                  <a:srgbClr val="06B6D4"/>
                </a:solidFill>
              </a:rPr>
              <a:t>AI augments humans, not replaces them.</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5 — IMPLEMENTATION</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Operational Readiness</a:t>
            </a:r>
            <a:endParaRPr lang="en-US" sz="3600" dirty="0"/>
          </a:p>
        </p:txBody>
      </p:sp>
      <p:sp>
        <p:nvSpPr>
          <p:cNvPr id="4" name="Text 2"/>
          <p:cNvSpPr/>
          <p:nvPr/>
        </p:nvSpPr>
        <p:spPr>
          <a:xfrm>
            <a:off x="914400" y="1645920"/>
            <a:ext cx="7315200" cy="3200400"/>
          </a:xfrm>
          <a:prstGeom prst="rect">
            <a:avLst/>
          </a:prstGeom>
          <a:noFill/>
          <a:ln/>
        </p:spPr>
        <p:txBody>
          <a:bodyPr wrap="square" rtlCol="0" anchor="ctr"/>
          <a:lstStyle/>
          <a:p>
            <a:pPr indent="0" marL="0">
              <a:buNone/>
            </a:pPr>
            <a:r>
              <a:rPr lang="en-US" sz="1600" dirty="0">
                <a:solidFill>
                  <a:srgbClr val="FFFFFF"/>
                </a:solidFill>
              </a:rPr>
              <a:t>- MVP V1.0 Complete: Core sensing and TinyML active.</a:t>
            </a:r>
            <a:endParaRPr lang="en-US" sz="1600" dirty="0"/>
          </a:p>
          <a:p>
            <a:pPr indent="0" marL="0">
              <a:buNone/>
            </a:pPr>
            <a:r>
              <a:rPr lang="en-US" sz="1600" dirty="0">
                <a:solidFill>
                  <a:srgbClr val="FFFFFF"/>
                </a:solidFill>
              </a:rPr>
              <a:t>- LoRa Mesh Validated: 2.5km range in dense canopy.</a:t>
            </a:r>
            <a:endParaRPr lang="en-US" sz="1600" dirty="0"/>
          </a:p>
          <a:p>
            <a:pPr indent="0" marL="0">
              <a:buNone/>
            </a:pPr>
            <a:r>
              <a:rPr lang="en-US" sz="1600" dirty="0">
                <a:solidFill>
                  <a:srgbClr val="FFFFFF"/>
                </a:solidFill>
              </a:rPr>
              <a:t>- Geospatial UI Online: Bayesian backend operational.</a:t>
            </a:r>
            <a:endParaRPr lang="en-US" sz="1600" dirty="0"/>
          </a:p>
          <a:p>
            <a:pPr indent="0" marL="0">
              <a:buNone/>
            </a:pPr>
            <a:endParaRPr lang="en-US" sz="1600" dirty="0"/>
          </a:p>
          <a:p>
            <a:pPr indent="0" marL="0">
              <a:buNone/>
            </a:pPr>
            <a:r>
              <a:rPr lang="en-US" sz="1600" dirty="0">
                <a:solidFill>
                  <a:srgbClr val="FFFFFF"/>
                </a:solidFill>
              </a:rPr>
              <a:t>CURRENT CONSTRAINTS:</a:t>
            </a:r>
            <a:endParaRPr lang="en-US" sz="1600" dirty="0"/>
          </a:p>
          <a:p>
            <a:pPr indent="0" marL="0">
              <a:buNone/>
            </a:pPr>
            <a:r>
              <a:rPr lang="en-US" sz="1600" dirty="0">
                <a:solidFill>
                  <a:srgbClr val="FFFFFF"/>
                </a:solidFill>
              </a:rPr>
              <a:t>- Dense rainforest calibration ongoing.</a:t>
            </a:r>
            <a:endParaRPr lang="en-US" sz="1600" dirty="0"/>
          </a:p>
          <a:p>
            <a:pPr indent="0" marL="0">
              <a:buNone/>
            </a:pPr>
            <a:r>
              <a:rPr lang="en-US" sz="1600" dirty="0">
                <a:solidFill>
                  <a:srgbClr val="FFFFFF"/>
                </a:solidFill>
              </a:rPr>
              <a:t>- Long-duration field validation in progress.</a:t>
            </a:r>
            <a:endParaRPr lang="en-US" sz="1600" dirty="0"/>
          </a:p>
          <a:p>
            <a:pPr indent="0" marL="0">
              <a:buNone/>
            </a:pPr>
            <a:r>
              <a:rPr lang="en-US" sz="1600" dirty="0">
                <a:solidFill>
                  <a:srgbClr val="FFFFFF"/>
                </a:solidFill>
              </a:rPr>
              <a:t>- Drone integration planned for V2.</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Architecture of Resilience</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Offline-first edge intelligence: Processing at the source.</a:t>
            </a:r>
            <a:endParaRPr lang="en-US" sz="1800" dirty="0"/>
          </a:p>
          <a:p>
            <a:pPr indent="0" marL="0">
              <a:buNone/>
            </a:pPr>
            <a:r>
              <a:rPr lang="en-US" sz="1800" dirty="0">
                <a:solidFill>
                  <a:srgbClr val="FFFFFF"/>
                </a:solidFill>
              </a:rPr>
              <a:t>- Low-power autonomous operation: Solar-autonomous nodes.</a:t>
            </a:r>
            <a:endParaRPr lang="en-US" sz="1800" dirty="0"/>
          </a:p>
          <a:p>
            <a:pPr indent="0" marL="0">
              <a:buNone/>
            </a:pPr>
            <a:r>
              <a:rPr lang="en-US" sz="1800" dirty="0">
                <a:solidFill>
                  <a:srgbClr val="FFFFFF"/>
                </a:solidFill>
              </a:rPr>
              <a:t>- Encrypted mesh telemetry: Secure data backhaul.</a:t>
            </a:r>
            <a:endParaRPr lang="en-US" sz="1800" dirty="0"/>
          </a:p>
          <a:p>
            <a:pPr indent="0" marL="0">
              <a:buNone/>
            </a:pPr>
            <a:r>
              <a:rPr lang="en-US" sz="1800" dirty="0">
                <a:solidFill>
                  <a:srgbClr val="FFFFFF"/>
                </a:solidFill>
              </a:rPr>
              <a:t>- Distributed resilience architecture: No single point of failure.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Hardened for the Wild</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IP68 Enclosures: Monsoon and humidity resilient.</a:t>
            </a:r>
            <a:endParaRPr lang="en-US" sz="1800" dirty="0"/>
          </a:p>
          <a:p>
            <a:pPr indent="0" marL="0">
              <a:buNone/>
            </a:pPr>
            <a:r>
              <a:rPr lang="en-US" sz="1800" dirty="0">
                <a:solidFill>
                  <a:srgbClr val="FFFFFF"/>
                </a:solidFill>
              </a:rPr>
              <a:t>- Self-Healing Mesh: Automatic rerouting if a node fails.</a:t>
            </a:r>
            <a:endParaRPr lang="en-US" sz="1800" dirty="0"/>
          </a:p>
          <a:p>
            <a:pPr indent="0" marL="0">
              <a:buNone/>
            </a:pPr>
            <a:r>
              <a:rPr lang="en-US" sz="1800" dirty="0">
                <a:solidFill>
                  <a:srgbClr val="FFFFFF"/>
                </a:solidFill>
              </a:rPr>
              <a:t>- Fail-Safe Storage: Local buffering for outages.</a:t>
            </a:r>
            <a:endParaRPr lang="en-US" sz="1800" dirty="0"/>
          </a:p>
          <a:p>
            <a:pPr indent="0" marL="0">
              <a:buNone/>
            </a:pPr>
            <a:r>
              <a:rPr lang="en-US" sz="1800" dirty="0">
                <a:solidFill>
                  <a:srgbClr val="FFFFFF"/>
                </a:solidFill>
              </a:rPr>
              <a:t>- False-Positive Filter: Fusion reduces errors to &lt; 3.8%.</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20.5 — WHY INDIA?</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Securing the National Biotope</a:t>
            </a:r>
            <a:endParaRPr lang="en-US" sz="3600" dirty="0"/>
          </a:p>
        </p:txBody>
      </p:sp>
      <p:sp>
        <p:nvSpPr>
          <p:cNvPr id="4" name="Text 2"/>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 Western Ghats: Protecting a global biodiversity hotspot.</a:t>
            </a:r>
            <a:endParaRPr lang="en-US" sz="1800" dirty="0"/>
          </a:p>
          <a:p>
            <a:pPr indent="0" marL="0">
              <a:buNone/>
            </a:pPr>
            <a:r>
              <a:rPr lang="en-US" sz="1800" dirty="0">
                <a:solidFill>
                  <a:srgbClr val="FFFFFF"/>
                </a:solidFill>
              </a:rPr>
              <a:t>- Sundarbans: Securing critical mangrove ecosystems.</a:t>
            </a:r>
            <a:endParaRPr lang="en-US" sz="1800" dirty="0"/>
          </a:p>
          <a:p>
            <a:pPr indent="0" marL="0">
              <a:buNone/>
            </a:pPr>
            <a:r>
              <a:rPr lang="en-US" sz="1800" dirty="0">
                <a:solidFill>
                  <a:srgbClr val="FFFFFF"/>
                </a:solidFill>
              </a:rPr>
              <a:t>- Northeast biodiversity zones: Monitoring remote frontiers.</a:t>
            </a:r>
            <a:endParaRPr lang="en-US" sz="1800" dirty="0"/>
          </a:p>
          <a:p>
            <a:pPr indent="0" marL="0">
              <a:buNone/>
            </a:pPr>
            <a:r>
              <a:rPr lang="en-US" sz="1800" dirty="0">
                <a:solidFill>
                  <a:srgbClr val="FFFFFF"/>
                </a:solidFill>
              </a:rPr>
              <a:t>- Wildfire Vulnerability: Detecting early ignition in risk zones.</a:t>
            </a:r>
            <a:endParaRPr lang="en-US" sz="1800" dirty="0"/>
          </a:p>
        </p:txBody>
      </p:sp>
      <p:sp>
        <p:nvSpPr>
          <p:cNvPr id="5" name="Text 3"/>
          <p:cNvSpPr/>
          <p:nvPr/>
        </p:nvSpPr>
        <p:spPr>
          <a:xfrm>
            <a:off x="914400" y="4389120"/>
            <a:ext cx="7315200" cy="457200"/>
          </a:xfrm>
          <a:prstGeom prst="rect">
            <a:avLst/>
          </a:prstGeom>
          <a:noFill/>
          <a:ln/>
        </p:spPr>
        <p:txBody>
          <a:bodyPr wrap="square" rtlCol="0" anchor="ctr"/>
          <a:lstStyle/>
          <a:p>
            <a:pPr algn="ctr" indent="0" marL="0">
              <a:buNone/>
            </a:pPr>
            <a:r>
              <a:rPr lang="en-US" sz="1600" dirty="0">
                <a:solidFill>
                  <a:srgbClr val="10B981"/>
                </a:solidFill>
              </a:rPr>
              <a:t>Protecting India's natural capital and carbon assets.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6 — IMPACT &amp; FUTURE</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Carbon Frontline</a:t>
            </a:r>
            <a:endParaRPr lang="en-US" sz="3600" dirty="0"/>
          </a:p>
        </p:txBody>
      </p:sp>
      <p:sp>
        <p:nvSpPr>
          <p:cNvPr id="4" name="Text 2"/>
          <p:cNvSpPr/>
          <p:nvPr/>
        </p:nvSpPr>
        <p:spPr>
          <a:xfrm>
            <a:off x="914400" y="1645920"/>
            <a:ext cx="7315200" cy="1828800"/>
          </a:xfrm>
          <a:prstGeom prst="rect">
            <a:avLst/>
          </a:prstGeom>
          <a:noFill/>
          <a:ln/>
        </p:spPr>
        <p:txBody>
          <a:bodyPr wrap="square" rtlCol="0" anchor="ctr"/>
          <a:lstStyle/>
          <a:p>
            <a:pPr indent="0" marL="0">
              <a:buNone/>
            </a:pPr>
            <a:r>
              <a:rPr lang="en-US" sz="1800" dirty="0">
                <a:solidFill>
                  <a:srgbClr val="FFFFFF"/>
                </a:solidFill>
              </a:rPr>
              <a:t>- Detection Latency: -80% compared to traditional patrolling.</a:t>
            </a:r>
            <a:endParaRPr lang="en-US" sz="1800" dirty="0"/>
          </a:p>
          <a:p>
            <a:pPr indent="0" marL="0">
              <a:buNone/>
            </a:pPr>
            <a:r>
              <a:rPr lang="en-US" sz="1800" dirty="0">
                <a:solidFill>
                  <a:srgbClr val="FFFFFF"/>
                </a:solidFill>
              </a:rPr>
              <a:t>- Forest Preservation: Prevents loss of ~22kg of CO2 per tree/year.</a:t>
            </a:r>
            <a:endParaRPr lang="en-US" sz="1800" dirty="0"/>
          </a:p>
          <a:p>
            <a:pPr indent="0" marL="0">
              <a:buNone/>
            </a:pPr>
            <a:r>
              <a:rPr lang="en-US" sz="1800" dirty="0">
                <a:solidFill>
                  <a:srgbClr val="FFFFFF"/>
                </a:solidFill>
              </a:rPr>
              <a:t>- Biodiversity Safety: Protects species richness.</a:t>
            </a:r>
            <a:endParaRPr lang="en-US" sz="1800" dirty="0"/>
          </a:p>
        </p:txBody>
      </p:sp>
      <p:sp>
        <p:nvSpPr>
          <p:cNvPr id="5" name="Text 3"/>
          <p:cNvSpPr/>
          <p:nvPr/>
        </p:nvSpPr>
        <p:spPr>
          <a:xfrm>
            <a:off x="914400" y="4114800"/>
            <a:ext cx="7315200" cy="457200"/>
          </a:xfrm>
          <a:prstGeom prst="rect">
            <a:avLst/>
          </a:prstGeom>
          <a:noFill/>
          <a:ln/>
        </p:spPr>
        <p:txBody>
          <a:bodyPr wrap="square" rtlCol="0" anchor="ctr"/>
          <a:lstStyle/>
          <a:p>
            <a:pPr algn="ctr" indent="0" marL="0">
              <a:buNone/>
            </a:pPr>
            <a:r>
              <a:rPr lang="en-US" sz="1800" b="1" dirty="0">
                <a:solidFill>
                  <a:srgbClr val="10B981"/>
                </a:solidFill>
              </a:rPr>
              <a:t>Every minute gained in detection can save hectares of irreversible damage.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From Conservation to Asset Management</a:t>
            </a:r>
            <a:endParaRPr lang="en-US" sz="3600" dirty="0"/>
          </a:p>
        </p:txBody>
      </p:sp>
      <p:sp>
        <p:nvSpPr>
          <p:cNvPr id="3" name="Text 1"/>
          <p:cNvSpPr/>
          <p:nvPr/>
        </p:nvSpPr>
        <p:spPr>
          <a:xfrm>
            <a:off x="914400" y="1645920"/>
            <a:ext cx="7315200" cy="2286000"/>
          </a:xfrm>
          <a:prstGeom prst="rect">
            <a:avLst/>
          </a:prstGeom>
          <a:noFill/>
          <a:ln/>
        </p:spPr>
        <p:txBody>
          <a:bodyPr wrap="square" rtlCol="0" anchor="ctr"/>
          <a:lstStyle/>
          <a:p>
            <a:pPr indent="0" marL="0">
              <a:buNone/>
            </a:pPr>
            <a:r>
              <a:rPr lang="en-US" sz="1800" dirty="0">
                <a:solidFill>
                  <a:srgbClr val="FFFFFF"/>
                </a:solidFill>
              </a:rPr>
              <a:t>- Biodiversity Tokens: Verifiable data for ecological markets.</a:t>
            </a:r>
            <a:endParaRPr lang="en-US" sz="1800" dirty="0"/>
          </a:p>
          <a:p>
            <a:pPr indent="0" marL="0">
              <a:buNone/>
            </a:pPr>
            <a:r>
              <a:rPr lang="en-US" sz="1800" dirty="0">
                <a:solidFill>
                  <a:srgbClr val="FFFFFF"/>
                </a:solidFill>
              </a:rPr>
              <a:t>- Carbon Credit Integrity: 100% transparency for audits.</a:t>
            </a:r>
            <a:endParaRPr lang="en-US" sz="1800" dirty="0"/>
          </a:p>
          <a:p>
            <a:pPr indent="0" marL="0">
              <a:buNone/>
            </a:pPr>
            <a:r>
              <a:rPr lang="en-US" sz="1800" dirty="0">
                <a:solidFill>
                  <a:srgbClr val="FFFFFF"/>
                </a:solidFill>
              </a:rPr>
              <a:t>- Resource Efficiency: Optimizing patrol budgets by 40%.</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Regional to National Rollout</a:t>
            </a:r>
            <a:endParaRPr lang="en-US" sz="3600" dirty="0"/>
          </a:p>
        </p:txBody>
      </p:sp>
      <p:sp>
        <p:nvSpPr>
          <p:cNvPr id="3" name="Text 1"/>
          <p:cNvSpPr/>
          <p:nvPr/>
        </p:nvSpPr>
        <p:spPr>
          <a:xfrm>
            <a:off x="914400" y="1645920"/>
            <a:ext cx="7315200" cy="2286000"/>
          </a:xfrm>
          <a:prstGeom prst="rect">
            <a:avLst/>
          </a:prstGeom>
          <a:noFill/>
          <a:ln/>
        </p:spPr>
        <p:txBody>
          <a:bodyPr wrap="square" rtlCol="0" anchor="ctr"/>
          <a:lstStyle/>
          <a:p>
            <a:pPr indent="0" marL="0">
              <a:buNone/>
            </a:pPr>
            <a:r>
              <a:rPr lang="en-US" sz="1800" dirty="0">
                <a:solidFill>
                  <a:srgbClr val="FFFFFF"/>
                </a:solidFill>
              </a:rPr>
              <a:t>- Modular Deployment: From single sectors to entire districts.</a:t>
            </a:r>
            <a:endParaRPr lang="en-US" sz="1800" dirty="0"/>
          </a:p>
          <a:p>
            <a:pPr indent="0" marL="0">
              <a:buNone/>
            </a:pPr>
            <a:r>
              <a:rPr lang="en-US" sz="1800" dirty="0">
                <a:solidFill>
                  <a:srgbClr val="FFFFFF"/>
                </a:solidFill>
              </a:rPr>
              <a:t>- Autonomous Mesh Expansion: Plug-and-Play network nodes.</a:t>
            </a:r>
            <a:endParaRPr lang="en-US" sz="1800" dirty="0"/>
          </a:p>
          <a:p>
            <a:pPr indent="0" marL="0">
              <a:buNone/>
            </a:pPr>
            <a:r>
              <a:rPr lang="en-US" sz="1800" dirty="0">
                <a:solidFill>
                  <a:srgbClr val="FFFFFF"/>
                </a:solidFill>
              </a:rPr>
              <a:t>- District Gateways: Hierarchical data for state control.</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The Autonomous Future</a:t>
            </a:r>
            <a:endParaRPr lang="en-US" sz="3600" dirty="0"/>
          </a:p>
        </p:txBody>
      </p:sp>
      <p:sp>
        <p:nvSpPr>
          <p:cNvPr id="3" name="Text 1"/>
          <p:cNvSpPr/>
          <p:nvPr/>
        </p:nvSpPr>
        <p:spPr>
          <a:xfrm>
            <a:off x="914400" y="1645920"/>
            <a:ext cx="7315200" cy="2743200"/>
          </a:xfrm>
          <a:prstGeom prst="rect">
            <a:avLst/>
          </a:prstGeom>
          <a:noFill/>
          <a:ln/>
        </p:spPr>
        <p:txBody>
          <a:bodyPr wrap="square" rtlCol="0" anchor="ctr"/>
          <a:lstStyle/>
          <a:p>
            <a:pPr indent="0" marL="0">
              <a:buNone/>
            </a:pPr>
            <a:r>
              <a:rPr lang="en-US" sz="1800" dirty="0">
                <a:solidFill>
                  <a:srgbClr val="FFFFFF"/>
                </a:solidFill>
              </a:rPr>
              <a:t>Phase 1: Sentinel Mesh (NOW): Intelligence and Localization.</a:t>
            </a:r>
            <a:endParaRPr lang="en-US" sz="1800" dirty="0"/>
          </a:p>
          <a:p>
            <a:pPr indent="0" marL="0">
              <a:buNone/>
            </a:pPr>
            <a:r>
              <a:rPr lang="en-US" sz="1800" dirty="0">
                <a:solidFill>
                  <a:srgbClr val="FFFFFF"/>
                </a:solidFill>
              </a:rPr>
              <a:t>Phase 2: Drone Interception: Automated visual confirmation.</a:t>
            </a:r>
            <a:endParaRPr lang="en-US" sz="1800" dirty="0"/>
          </a:p>
          <a:p>
            <a:pPr indent="0" marL="0">
              <a:buNone/>
            </a:pPr>
            <a:r>
              <a:rPr lang="en-US" sz="1800" dirty="0">
                <a:solidFill>
                  <a:srgbClr val="FFFFFF"/>
                </a:solidFill>
              </a:rPr>
              <a:t>Phase 3: Satellite Fusion: Global-local synchronization.</a:t>
            </a:r>
            <a:endParaRPr lang="en-US" sz="1800" dirty="0"/>
          </a:p>
          <a:p>
            <a:pPr indent="0" marL="0">
              <a:buNone/>
            </a:pPr>
            <a:r>
              <a:rPr lang="en-US" sz="1800" dirty="0">
                <a:solidFill>
                  <a:srgbClr val="FFFFFF"/>
                </a:solidFill>
              </a:rPr>
              <a:t>Phase 4: Predictive Wildfire AI: Early ignition modeling.</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1200" b="1" dirty="0">
                <a:solidFill>
                  <a:srgbClr val="10B981"/>
                </a:solidFill>
                <a:latin typeface="Courier New" pitchFamily="34" charset="0"/>
                <a:ea typeface="Courier New" pitchFamily="34" charset="-122"/>
                <a:cs typeface="Courier New" pitchFamily="34" charset="-120"/>
              </a:rPr>
              <a:t>SECTION 7 — VISION &amp; CLOSING</a:t>
            </a:r>
            <a:endParaRPr lang="en-US" sz="1200" dirty="0"/>
          </a:p>
        </p:txBody>
      </p:sp>
      <p:sp>
        <p:nvSpPr>
          <p:cNvPr id="3" name="Text 1"/>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Ecosystem Infrastructure</a:t>
            </a:r>
            <a:endParaRPr lang="en-US" sz="3600" dirty="0"/>
          </a:p>
        </p:txBody>
      </p:sp>
      <p:sp>
        <p:nvSpPr>
          <p:cNvPr id="4" name="Text 2"/>
          <p:cNvSpPr/>
          <p:nvPr/>
        </p:nvSpPr>
        <p:spPr>
          <a:xfrm>
            <a:off x="914400" y="1645920"/>
            <a:ext cx="7315200" cy="2286000"/>
          </a:xfrm>
          <a:prstGeom prst="rect">
            <a:avLst/>
          </a:prstGeom>
          <a:noFill/>
          <a:ln/>
        </p:spPr>
        <p:txBody>
          <a:bodyPr wrap="square" rtlCol="0" anchor="ctr"/>
          <a:lstStyle/>
          <a:p>
            <a:pPr indent="0" marL="0">
              <a:buNone/>
            </a:pPr>
            <a:r>
              <a:rPr lang="en-US" sz="1800" dirty="0">
                <a:solidFill>
                  <a:srgbClr val="FFFFFF"/>
                </a:solidFill>
              </a:rPr>
              <a:t>- Forests are Infrastructure: As critical as roads or power grids.</a:t>
            </a:r>
            <a:endParaRPr lang="en-US" sz="1800" dirty="0"/>
          </a:p>
          <a:p>
            <a:pPr indent="0" marL="0">
              <a:buNone/>
            </a:pPr>
            <a:r>
              <a:rPr lang="en-US" sz="1800" dirty="0">
                <a:solidFill>
                  <a:srgbClr val="FFFFFF"/>
                </a:solidFill>
              </a:rPr>
              <a:t>- The Oracle of the Earth: We cannot protect what we cannot perceive.</a:t>
            </a:r>
            <a:endParaRPr lang="en-US" sz="1800" dirty="0"/>
          </a:p>
          <a:p>
            <a:pPr indent="0" marL="0">
              <a:buNone/>
            </a:pPr>
            <a:r>
              <a:rPr lang="en-US" sz="1800" dirty="0">
                <a:solidFill>
                  <a:srgbClr val="FFFFFF"/>
                </a:solidFill>
              </a:rPr>
              <a:t>- Generational Security: Preserving the biotope for the future.</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640080"/>
            <a:ext cx="8229600" cy="91440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VanRakshak-X</a:t>
            </a:r>
            <a:endParaRPr lang="en-US" sz="3600" dirty="0"/>
          </a:p>
        </p:txBody>
      </p:sp>
      <p:sp>
        <p:nvSpPr>
          <p:cNvPr id="3" name="Text 1"/>
          <p:cNvSpPr/>
          <p:nvPr/>
        </p:nvSpPr>
        <p:spPr>
          <a:xfrm>
            <a:off x="914400" y="1828800"/>
            <a:ext cx="7315200" cy="457200"/>
          </a:xfrm>
          <a:prstGeom prst="rect">
            <a:avLst/>
          </a:prstGeom>
          <a:noFill/>
          <a:ln/>
        </p:spPr>
        <p:txBody>
          <a:bodyPr wrap="square" rtlCol="0" anchor="ctr"/>
          <a:lstStyle/>
          <a:p>
            <a:pPr algn="ctr" indent="0" marL="0">
              <a:buNone/>
            </a:pPr>
            <a:r>
              <a:rPr lang="en-US" sz="2800" b="1" dirty="0">
                <a:solidFill>
                  <a:srgbClr val="10B981"/>
                </a:solidFill>
              </a:rPr>
              <a:t>Predictive. Proactive. Powerful.</a:t>
            </a:r>
            <a:endParaRPr lang="en-US" sz="2800" dirty="0"/>
          </a:p>
        </p:txBody>
      </p:sp>
      <p:sp>
        <p:nvSpPr>
          <p:cNvPr id="4" name="Text 2"/>
          <p:cNvSpPr/>
          <p:nvPr/>
        </p:nvSpPr>
        <p:spPr>
          <a:xfrm>
            <a:off x="914400" y="2743200"/>
            <a:ext cx="7315200" cy="457200"/>
          </a:xfrm>
          <a:prstGeom prst="rect">
            <a:avLst/>
          </a:prstGeom>
          <a:noFill/>
          <a:ln/>
        </p:spPr>
        <p:txBody>
          <a:bodyPr wrap="square" rtlCol="0" anchor="ctr"/>
          <a:lstStyle/>
          <a:p>
            <a:pPr algn="ctr" indent="0" marL="0">
              <a:buNone/>
            </a:pPr>
            <a:r>
              <a:rPr lang="en-US" sz="2400" dirty="0">
                <a:solidFill>
                  <a:srgbClr val="888888"/>
                </a:solidFill>
              </a:rPr>
              <a:t>The lungs of the nation deserve the intelligence of the state.</a:t>
            </a:r>
            <a:endParaRPr lang="en-US" sz="2400" dirty="0"/>
          </a:p>
        </p:txBody>
      </p:sp>
      <p:sp>
        <p:nvSpPr>
          <p:cNvPr id="5" name="Text 3"/>
          <p:cNvSpPr/>
          <p:nvPr/>
        </p:nvSpPr>
        <p:spPr>
          <a:xfrm>
            <a:off x="2743200" y="4114800"/>
            <a:ext cx="3657600" cy="365760"/>
          </a:xfrm>
          <a:prstGeom prst="rect">
            <a:avLst/>
          </a:prstGeom>
          <a:noFill/>
          <a:ln/>
        </p:spPr>
        <p:txBody>
          <a:bodyPr wrap="square" rtlCol="0" anchor="ctr"/>
          <a:lstStyle/>
          <a:p>
            <a:pPr algn="ctr" indent="0" marL="0">
              <a:buNone/>
            </a:pPr>
            <a:r>
              <a:rPr lang="en-US" sz="1200" dirty="0">
                <a:solidFill>
                  <a:srgbClr val="06B6D4"/>
                </a:solidFill>
              </a:rPr>
              <a:t>[INSTITUTIONAL CONTACT INFO / QR]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2026-05-13T15:14:34Z</dcterms:created>
  <dcterms:modified xsi:type="dcterms:W3CDTF">2026-05-13T15:14:34Z</dcterms:modified>
</cp:coreProperties>
</file>